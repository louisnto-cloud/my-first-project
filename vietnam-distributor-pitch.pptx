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2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5C635C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5C635C"/>
                </a:solidFill>
                <a:latin typeface="+mn-lt"/>
              </a:rPr>
              <a:t>2025: Mall = 2% of shops, 33% of GMV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 of online supplement GMV</c:v>
                </c:pt>
              </c:strCache>
            </c:strRef>
          </c:tx>
          <c:spPr>
            <a:solidFill>
              <a:srgbClr val="1F4D3A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A1C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4D3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9CFC7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Official Mall stores</c:v>
                  </c:pt>
                  <c:pt idx="1">
                    <c:v>Unverified sellers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0.326</c:v>
                </c:pt>
                <c:pt idx="1">
                  <c:v>0.674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1200" u="none">
                  <a:solidFill>
                    <a:srgbClr val="1A1C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C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VND per unit</c:v>
                </c:pt>
              </c:strCache>
            </c:strRef>
          </c:tx>
          <c:spPr>
            <a:solidFill>
              <a:srgbClr val="97BC6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1C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7BC62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E6B5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B8860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F4D3A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FOB</c:v>
                  </c:pt>
                  <c:pt idx="1">
                    <c:v>Landed</c:v>
                  </c:pt>
                  <c:pt idx="2">
                    <c:v>To distributor</c:v>
                  </c:pt>
                  <c:pt idx="3">
                    <c:v>Shelf price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221400</c:v>
                </c:pt>
                <c:pt idx="1">
                  <c:v>236700</c:v>
                </c:pt>
                <c:pt idx="2">
                  <c:v>343215</c:v>
                </c:pt>
                <c:pt idx="3">
                  <c:v>529532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A1C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C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2000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4D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D3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31520" y="210312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spc="30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ORGANIKA  ×  VIETNAM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65176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distribution partnership for premium Canadian natural health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749808" y="4114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8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Collagen · Magnesium · Greens · Probiotics · Fibre · Vitamins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49808" y="58521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FE0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Louis To · Senior Sales Manager, Emerging Channels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market worth entering, carefully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2606040" cy="2011680"/>
          </a:xfrm>
          <a:prstGeom prst="roundRect">
            <a:avLst>
              <a:gd name="adj" fmla="val 3636"/>
            </a:avLst>
          </a:prstGeom>
          <a:solidFill>
            <a:srgbClr val="EEF0EC"/>
          </a:solidFill>
          <a:ln/>
          <a:effectLst>
            <a:outerShdw sx="100000" sy="100000" kx="0" ky="0" algn="bl" rotWithShape="0" blurRad="63500" dist="25400" dir="5400000">
              <a:srgbClr val="BBBBBB">
                <a:alpha val="35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685800" y="196596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F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~US$0.9B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788920"/>
            <a:ext cx="2331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3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size, 2024 (analyst consensus)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364992" y="1737360"/>
            <a:ext cx="2606040" cy="2011680"/>
          </a:xfrm>
          <a:prstGeom prst="roundRect">
            <a:avLst>
              <a:gd name="adj" fmla="val 3636"/>
            </a:avLst>
          </a:prstGeom>
          <a:solidFill>
            <a:srgbClr val="EEF0EC"/>
          </a:solidFill>
          <a:ln/>
          <a:effectLst>
            <a:outerShdw sx="100000" sy="100000" kx="0" ky="0" algn="bl" rotWithShape="0" blurRad="63500" dist="25400" dir="5400000">
              <a:srgbClr val="BBBBBB">
                <a:alpha val="3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3502152" y="196596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F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~11%/yr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3502152" y="2788920"/>
            <a:ext cx="2331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3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 to ~US$1.7B by 2030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181344" y="1737360"/>
            <a:ext cx="2606040" cy="2011680"/>
          </a:xfrm>
          <a:prstGeom prst="roundRect">
            <a:avLst>
              <a:gd name="adj" fmla="val 3636"/>
            </a:avLst>
          </a:prstGeom>
          <a:solidFill>
            <a:srgbClr val="EEF0EC"/>
          </a:solidFill>
          <a:ln/>
          <a:effectLst>
            <a:outerShdw sx="100000" sy="100000" kx="0" ky="0" algn="bl" rotWithShape="0" blurRad="63500" dist="25400" dir="5400000">
              <a:srgbClr val="BBBBBB">
                <a:alpha val="35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6318504" y="196596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F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#1</a:t>
            </a:r>
            <a:endParaRPr lang="en-US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6318504" y="2788920"/>
            <a:ext cx="2331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3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fastest-growing supplement market in SE Asia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997696" y="1737360"/>
            <a:ext cx="2606040" cy="2011680"/>
          </a:xfrm>
          <a:prstGeom prst="roundRect">
            <a:avLst>
              <a:gd name="adj" fmla="val 3636"/>
            </a:avLst>
          </a:prstGeom>
          <a:solidFill>
            <a:srgbClr val="EEF0EC"/>
          </a:solidFill>
          <a:ln/>
          <a:effectLst>
            <a:outerShdw sx="100000" sy="100000" kx="0" ky="0" algn="bl" rotWithShape="0" blurRad="63500" dist="25400" dir="5400000">
              <a:srgbClr val="BBBBBB">
                <a:alpha val="35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9134856" y="196596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F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32.6%</a:t>
            </a:r>
            <a:endParaRPr lang="en-US" sz="3400" dirty="0"/>
          </a:p>
        </p:txBody>
      </p:sp>
      <p:sp>
        <p:nvSpPr>
          <p:cNvPr id="14" name="Text 12"/>
          <p:cNvSpPr txBox="1"/>
          <p:nvPr/>
        </p:nvSpPr>
        <p:spPr>
          <a:xfrm>
            <a:off x="9134856" y="2788920"/>
            <a:ext cx="2331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3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online category GMV now from official stores (up from a sliver)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411480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C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2025 counterfeit crackdown moved demand decisively toward provably genuine imports. That shift is the opening.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9436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3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Grand View Research, Ken Research, Euromonitor, Metric.vn, 2024–26. Figures carry confidence ratings in the full primer.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644652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C63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Organika × Vietnam  ·  distribution partnership  ·  working briefing, not a public document</a:t>
            </a:r>
            <a:endParaRPr lang="en-US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1143000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3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shelves are crowded, and where they are open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645920"/>
            <a:ext cx="5486400" cy="4206240"/>
          </a:xfrm>
          <a:prstGeom prst="roundRect">
            <a:avLst>
              <a:gd name="adj" fmla="val 1739"/>
            </a:avLst>
          </a:prstGeom>
          <a:solidFill>
            <a:srgbClr val="FBEDE7"/>
          </a:solidFill>
          <a:ln/>
          <a:effectLst>
            <a:outerShdw sx="100000" sy="100000" kx="0" ky="0" algn="bl" rotWithShape="0" blurRad="63500" dist="25400" dir="5400000">
              <a:srgbClr val="BBBBBB">
                <a:alpha val="35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777240" y="18288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56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CROWDED — avoid head-on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28600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1C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Premium beauty collagen (DHC, Orihiro, 82X, Lemona, Swisse)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999232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1C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 fish oil &amp; multivitamins (Blackmores, Doppelherz)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712464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1C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 ginseng gifting (KGC + many)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4425696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1C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Kids DHA / calcium (crowded and trust-damaged)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17920" y="1645920"/>
            <a:ext cx="5394960" cy="4206240"/>
          </a:xfrm>
          <a:prstGeom prst="roundRect">
            <a:avLst>
              <a:gd name="adj" fmla="val 1739"/>
            </a:avLst>
          </a:prstGeom>
          <a:solidFill>
            <a:srgbClr val="E8F0EA"/>
          </a:solidFill>
          <a:ln/>
          <a:effectLst>
            <a:outerShdw sx="100000" sy="100000" kx="0" ky="0" algn="bl" rotWithShape="0" blurRad="63500" dist="25400" dir="5400000">
              <a:srgbClr val="BBBBBB">
                <a:alpha val="35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6446520" y="18288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— our lane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537960" y="228600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1C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Magnesium (chelated) — no official premium brand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537960" y="2999232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1C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Greens / daily superfood — effectively vacant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537960" y="3712464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1C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Menopause / 50+ non-dairy — thin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537960" y="4425696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1C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Clean-label Canadian — no flagship exists yet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644652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C63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Organika × Vietnam  ·  distribution partnership  ·  working briefing, not a public document</a:t>
            </a:r>
            <a:endParaRPr lang="en-US" sz="850" dirty="0"/>
          </a:p>
        </p:txBody>
      </p:sp>
      <p:sp>
        <p:nvSpPr>
          <p:cNvPr id="16" name="Text 14"/>
          <p:cNvSpPr txBox="1"/>
          <p:nvPr/>
        </p:nvSpPr>
        <p:spPr>
          <a:xfrm>
            <a:off x="1143000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3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Lead with the open shelves, not the crowded one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783080"/>
            <a:ext cx="11064240" cy="731520"/>
          </a:xfrm>
          <a:prstGeom prst="roundRect">
            <a:avLst>
              <a:gd name="adj" fmla="val 10000"/>
            </a:avLst>
          </a:prstGeom>
          <a:solidFill>
            <a:srgbClr val="E8F0EA"/>
          </a:solidFill>
          <a:ln/>
          <a:effectLst>
            <a:outerShdw sx="100000" sy="100000" kx="0" ky="0" algn="bl" rotWithShape="0" blurRad="63500" dist="25400" dir="5400000">
              <a:srgbClr val="BBBBBB">
                <a:alpha val="35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777240" y="1819656"/>
            <a:ext cx="3657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C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Magnesium bisglycinate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4480560" y="1819656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4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035040" y="1819656"/>
            <a:ext cx="5486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3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 the official premium chelated gap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2624328"/>
            <a:ext cx="11064240" cy="731520"/>
          </a:xfrm>
          <a:prstGeom prst="roundRect">
            <a:avLst>
              <a:gd name="adj" fmla="val 10000"/>
            </a:avLst>
          </a:prstGeom>
          <a:solidFill>
            <a:srgbClr val="E8F0EA"/>
          </a:solidFill>
          <a:ln/>
          <a:effectLst>
            <a:outerShdw sx="100000" sy="100000" kx="0" ky="0" algn="bl" rotWithShape="0" blurRad="63500" dist="25400" dir="5400000">
              <a:srgbClr val="BBBBBB">
                <a:alpha val="3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77240" y="2660904"/>
            <a:ext cx="3657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C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Greens / superfood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480560" y="2660904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4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035040" y="2660904"/>
            <a:ext cx="5486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3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mover on daily greens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3465576"/>
            <a:ext cx="11064240" cy="731520"/>
          </a:xfrm>
          <a:prstGeom prst="roundRect">
            <a:avLst>
              <a:gd name="adj" fmla="val 10000"/>
            </a:avLst>
          </a:prstGeom>
          <a:solidFill>
            <a:srgbClr val="EEF0EC"/>
          </a:solidFill>
          <a:ln/>
          <a:effectLst>
            <a:outerShdw sx="100000" sy="100000" kx="0" ky="0" algn="bl" rotWithShape="0" blurRad="63500" dist="25400" dir="5400000">
              <a:srgbClr val="BBBBBB">
                <a:alpha val="35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777240" y="3502152"/>
            <a:ext cx="3657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C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Enhanced Collagen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4480560" y="3502152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56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035040" y="3502152"/>
            <a:ext cx="5486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3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Carries the Canada story; Tet gift format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4306824"/>
            <a:ext cx="11064240" cy="731520"/>
          </a:xfrm>
          <a:prstGeom prst="roundRect">
            <a:avLst>
              <a:gd name="adj" fmla="val 10000"/>
            </a:avLst>
          </a:prstGeom>
          <a:solidFill>
            <a:srgbClr val="EEF0EC"/>
          </a:solidFill>
          <a:ln/>
          <a:effectLst>
            <a:outerShdw sx="100000" sy="100000" kx="0" ky="0" algn="bl" rotWithShape="0" blurRad="63500" dist="25400" dir="5400000">
              <a:srgbClr val="BBBBBB">
                <a:alpha val="35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777240" y="4343400"/>
            <a:ext cx="3657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C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Probiotics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4480560" y="4343400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C63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035040" y="4343400"/>
            <a:ext cx="5486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3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 strain/format differentiator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48640" y="5148072"/>
            <a:ext cx="11064240" cy="731520"/>
          </a:xfrm>
          <a:prstGeom prst="roundRect">
            <a:avLst>
              <a:gd name="adj" fmla="val 10000"/>
            </a:avLst>
          </a:prstGeom>
          <a:solidFill>
            <a:srgbClr val="EEF0EC"/>
          </a:solidFill>
          <a:ln/>
          <a:effectLst>
            <a:outerShdw sx="100000" sy="100000" kx="0" ky="0" algn="bl" rotWithShape="0" blurRad="63500" dist="25400" dir="5400000">
              <a:srgbClr val="BBBBBB">
                <a:alpha val="35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777240" y="5184648"/>
            <a:ext cx="3657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C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Fibre · Vitamin C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4480560" y="5184648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C63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FILLER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6035040" y="5184648"/>
            <a:ext cx="5486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3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out the range; do not lead on price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644652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C63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Organika × Vietnam  ·  distribution partnership  ·  working briefing, not a public document</a:t>
            </a:r>
            <a:endParaRPr lang="en-US" sz="850" dirty="0"/>
          </a:p>
        </p:txBody>
      </p:sp>
      <p:sp>
        <p:nvSpPr>
          <p:cNvPr id="24" name="Text 22"/>
          <p:cNvSpPr txBox="1"/>
          <p:nvPr/>
        </p:nvSpPr>
        <p:spPr>
          <a:xfrm>
            <a:off x="1143000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3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now: the flight to genuine goods</a:t>
            </a:r>
            <a:endParaRPr lang="en-US" sz="30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737360"/>
          <a:ext cx="576072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Shape 1"/>
          <p:cNvSpPr/>
          <p:nvPr/>
        </p:nvSpPr>
        <p:spPr>
          <a:xfrm>
            <a:off x="6583680" y="1737360"/>
            <a:ext cx="5029200" cy="4023360"/>
          </a:xfrm>
          <a:prstGeom prst="roundRect">
            <a:avLst>
              <a:gd name="adj" fmla="val 1818"/>
            </a:avLst>
          </a:prstGeom>
          <a:solidFill>
            <a:srgbClr val="EEF0EC"/>
          </a:solidFill>
          <a:ln/>
          <a:effectLst>
            <a:outerShdw sx="100000" sy="100000" kx="0" ky="0" algn="bl" rotWithShape="0" blurRad="63500" dist="25400" dir="5400000">
              <a:srgbClr val="BBBBBB">
                <a:alpha val="35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6812280" y="19202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means for us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903720" y="237744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1A1C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67% of consumers rank "guaranteed genuine" as their #1 demand — above cheaper price or shipping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6903720" y="333756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1A1C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Celebrity and factory counterfeit cases ended in prison in 2025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6903720" y="429768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1A1C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provably authentic import with QR, a named importer and chain listing is exactly the trade the crackdown created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644652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C63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Organika × Vietnam  ·  distribution partnership  ·  working briefing, not a public document</a:t>
            </a:r>
            <a:endParaRPr lang="en-US" sz="850" dirty="0"/>
          </a:p>
        </p:txBody>
      </p:sp>
      <p:sp>
        <p:nvSpPr>
          <p:cNvPr id="10" name="Text 7"/>
          <p:cNvSpPr txBox="1"/>
          <p:nvPr/>
        </p:nvSpPr>
        <p:spPr>
          <a:xfrm>
            <a:off x="1143000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3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bring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783080"/>
            <a:ext cx="5394960" cy="1280160"/>
          </a:xfrm>
          <a:prstGeom prst="roundRect">
            <a:avLst>
              <a:gd name="adj" fmla="val 5714"/>
            </a:avLst>
          </a:prstGeom>
          <a:solidFill>
            <a:srgbClr val="EEF0EC"/>
          </a:solidFill>
          <a:ln/>
          <a:effectLst>
            <a:outerShdw sx="100000" sy="100000" kx="0" ky="0" algn="bl" rotWithShape="0" blurRad="63500" dist="25400" dir="5400000">
              <a:srgbClr val="BBBBBB">
                <a:alpha val="35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777240" y="19202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Registration-ready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313432"/>
            <a:ext cx="4937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3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Consularized free-sale certificate, GMP, lab tests, claim evidence — the dossier gate, cleared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172200" y="1783080"/>
            <a:ext cx="5394960" cy="1280160"/>
          </a:xfrm>
          <a:prstGeom prst="roundRect">
            <a:avLst>
              <a:gd name="adj" fmla="val 5714"/>
            </a:avLst>
          </a:prstGeom>
          <a:solidFill>
            <a:srgbClr val="EEF0EC"/>
          </a:solidFill>
          <a:ln/>
          <a:effectLst>
            <a:outerShdw sx="100000" sy="100000" kx="0" ky="0" algn="bl" rotWithShape="0" blurRad="63500" dist="25400" dir="5400000">
              <a:srgbClr val="BBBBBB">
                <a:alpha val="3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6400800" y="19202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Marketing investment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400800" y="2313432"/>
            <a:ext cx="4937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3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launch budget: pharmacist education, KOC within the rules, Mall-store vouchers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3200400"/>
            <a:ext cx="5394960" cy="1280160"/>
          </a:xfrm>
          <a:prstGeom prst="roundRect">
            <a:avLst>
              <a:gd name="adj" fmla="val 5714"/>
            </a:avLst>
          </a:prstGeom>
          <a:solidFill>
            <a:srgbClr val="EEF0EC"/>
          </a:solidFill>
          <a:ln/>
          <a:effectLst>
            <a:outerShdw sx="100000" sy="100000" kx="0" ky="0" algn="bl" rotWithShape="0" blurRad="63500" dist="25400" dir="5400000">
              <a:srgbClr val="BBBBBB">
                <a:alpha val="35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777240" y="33375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Grey-market control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3730752"/>
            <a:ext cx="4937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3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Vietnam-specific packs and a price ladder so our own Canadian stock does not undercut you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172200" y="3200400"/>
            <a:ext cx="5394960" cy="1280160"/>
          </a:xfrm>
          <a:prstGeom prst="roundRect">
            <a:avLst>
              <a:gd name="adj" fmla="val 5714"/>
            </a:avLst>
          </a:prstGeom>
          <a:solidFill>
            <a:srgbClr val="EEF0EC"/>
          </a:solidFill>
          <a:ln/>
          <a:effectLst>
            <a:outerShdw sx="100000" sy="100000" kx="0" ky="0" algn="bl" rotWithShape="0" blurRad="63500" dist="25400" dir="5400000">
              <a:srgbClr val="BBBBBB">
                <a:alpha val="35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400800" y="33375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 headroom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0" y="3730752"/>
            <a:ext cx="4937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3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 prices built 25–35% above everyday-promo so Tet and double-days are fundable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40" y="4617720"/>
            <a:ext cx="5394960" cy="1280160"/>
          </a:xfrm>
          <a:prstGeom prst="roundRect">
            <a:avLst>
              <a:gd name="adj" fmla="val 5714"/>
            </a:avLst>
          </a:prstGeom>
          <a:solidFill>
            <a:srgbClr val="EEF0EC"/>
          </a:solidFill>
          <a:ln/>
          <a:effectLst>
            <a:outerShdw sx="100000" sy="100000" kx="0" ky="0" algn="bl" rotWithShape="0" blurRad="63500" dist="25400" dir="5400000">
              <a:srgbClr val="BBBBBB">
                <a:alpha val="35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777240" y="47548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Canada quality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5148072"/>
            <a:ext cx="4937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3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Canada ranks #1 on the 2022 global food-safety quality sub-index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172200" y="4617720"/>
            <a:ext cx="5394960" cy="1280160"/>
          </a:xfrm>
          <a:prstGeom prst="roundRect">
            <a:avLst>
              <a:gd name="adj" fmla="val 5714"/>
            </a:avLst>
          </a:prstGeom>
          <a:solidFill>
            <a:srgbClr val="EEF0EC"/>
          </a:solidFill>
          <a:ln/>
          <a:effectLst>
            <a:outerShdw sx="100000" sy="100000" kx="0" ky="0" algn="bl" rotWithShape="0" blurRad="63500" dist="25400" dir="5400000">
              <a:srgbClr val="BBBBBB">
                <a:alpha val="35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6400800" y="47548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hold the registrations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6400800" y="5148072"/>
            <a:ext cx="4937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3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neither side is ever held hostage if the relationship changes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644652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C63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Organika × Vietnam  ·  distribution partnership  ·  working briefing, not a public document</a:t>
            </a:r>
            <a:endParaRPr lang="en-US" sz="850" dirty="0"/>
          </a:p>
        </p:txBody>
      </p:sp>
      <p:sp>
        <p:nvSpPr>
          <p:cNvPr id="22" name="Text 20"/>
          <p:cNvSpPr txBox="1"/>
          <p:nvPr/>
        </p:nvSpPr>
        <p:spPr>
          <a:xfrm>
            <a:off x="1143000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3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ask of a partner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828800"/>
            <a:ext cx="11064240" cy="1234440"/>
          </a:xfrm>
          <a:prstGeom prst="roundRect">
            <a:avLst>
              <a:gd name="adj" fmla="val 5926"/>
            </a:avLst>
          </a:prstGeom>
          <a:solidFill>
            <a:srgbClr val="EEF0EC"/>
          </a:solidFill>
          <a:ln/>
          <a:effectLst>
            <a:outerShdw sx="100000" sy="100000" kx="0" ky="0" algn="bl" rotWithShape="0" blurRad="63500" dist="25400" dir="5400000">
              <a:srgbClr val="BBBBBB">
                <a:alpha val="35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777240" y="1920240"/>
            <a:ext cx="914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C56A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1828800" y="202996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C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Placement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828800" y="2487168"/>
            <a:ext cx="9418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3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Pharmacy chains — Long Chau first — plus official Mall stores on Shopee and TikTok Shop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3200400"/>
            <a:ext cx="11064240" cy="1234440"/>
          </a:xfrm>
          <a:prstGeom prst="roundRect">
            <a:avLst>
              <a:gd name="adj" fmla="val 5926"/>
            </a:avLst>
          </a:prstGeom>
          <a:solidFill>
            <a:srgbClr val="E8F0EA"/>
          </a:solidFill>
          <a:ln/>
          <a:effectLst>
            <a:outerShdw sx="100000" sy="100000" kx="0" ky="0" algn="bl" rotWithShape="0" blurRad="63500" dist="25400" dir="5400000">
              <a:srgbClr val="BBBBBB">
                <a:alpha val="3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77240" y="3291840"/>
            <a:ext cx="914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C56A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1828800" y="340156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C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Exclusivity, earned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828800" y="3858768"/>
            <a:ext cx="9418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3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exclusivity gated on volume milestones, so you carry the upside and we both invest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4572000"/>
            <a:ext cx="11064240" cy="1234440"/>
          </a:xfrm>
          <a:prstGeom prst="roundRect">
            <a:avLst>
              <a:gd name="adj" fmla="val 5926"/>
            </a:avLst>
          </a:prstGeom>
          <a:solidFill>
            <a:srgbClr val="EEF0EC"/>
          </a:solidFill>
          <a:ln/>
          <a:effectLst>
            <a:outerShdw sx="100000" sy="100000" kx="0" ky="0" algn="bl" rotWithShape="0" blurRad="63500" dist="25400" dir="5400000">
              <a:srgbClr val="BBBBBB">
                <a:alpha val="35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777240" y="4663440"/>
            <a:ext cx="914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C56A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4000" dirty="0"/>
          </a:p>
        </p:txBody>
      </p:sp>
      <p:sp>
        <p:nvSpPr>
          <p:cNvPr id="13" name="Text 11"/>
          <p:cNvSpPr txBox="1"/>
          <p:nvPr/>
        </p:nvSpPr>
        <p:spPr>
          <a:xfrm>
            <a:off x="1828800" y="477316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C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named owner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828800" y="5230368"/>
            <a:ext cx="9418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3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brand manager who treats this as a build, not a filler line on a catalogue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644652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C63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Organika × Vietnam  ·  distribution partnership  ·  working briefing, not a public document</a:t>
            </a:r>
            <a:endParaRPr lang="en-US" sz="850" dirty="0"/>
          </a:p>
        </p:txBody>
      </p:sp>
      <p:sp>
        <p:nvSpPr>
          <p:cNvPr id="16" name="Text 14"/>
          <p:cNvSpPr txBox="1"/>
          <p:nvPr/>
        </p:nvSpPr>
        <p:spPr>
          <a:xfrm>
            <a:off x="1143000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3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economics work, with promo room built in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02412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C56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Illustrative, premium collagen, CAD 12 FOB at CPTPP 0% duty — model, to be set on real costs</a:t>
            </a:r>
            <a:endParaRPr lang="en-US" sz="13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783080"/>
          <a:ext cx="676656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589520" y="1783080"/>
            <a:ext cx="4023360" cy="3931920"/>
          </a:xfrm>
          <a:prstGeom prst="roundRect">
            <a:avLst>
              <a:gd name="adj" fmla="val 1860"/>
            </a:avLst>
          </a:prstGeom>
          <a:solidFill>
            <a:srgbClr val="EEF0EC"/>
          </a:solidFill>
          <a:ln/>
          <a:effectLst>
            <a:outerShdw sx="100000" sy="100000" kx="0" ky="0" algn="bl" rotWithShape="0" blurRad="63500" dist="25400" dir="5400000">
              <a:srgbClr val="BBBBBB">
                <a:alpha val="35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7818120" y="201168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2.4×</a:t>
            </a:r>
            <a:endParaRPr lang="en-US" sz="4400" dirty="0"/>
          </a:p>
        </p:txBody>
      </p:sp>
      <p:sp>
        <p:nvSpPr>
          <p:cNvPr id="7" name="Text 4"/>
          <p:cNvSpPr txBox="1"/>
          <p:nvPr/>
        </p:nvSpPr>
        <p:spPr>
          <a:xfrm>
            <a:off x="7818120" y="2880360"/>
            <a:ext cx="3566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3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FOB-to-shelf multiple — inside the VND 650–850k premium collagen band, with headroom to price up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818120" y="493776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C56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live calculator and a full SKU model accompany this deck.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644652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C63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Organika × Vietnam  ·  distribution partnership  ·  working briefing, not a public document</a:t>
            </a:r>
            <a:endParaRPr lang="en-US" sz="850" dirty="0"/>
          </a:p>
        </p:txBody>
      </p:sp>
      <p:sp>
        <p:nvSpPr>
          <p:cNvPr id="10" name="Text 7"/>
          <p:cNvSpPr txBox="1"/>
          <p:nvPr/>
        </p:nvSpPr>
        <p:spPr>
          <a:xfrm>
            <a:off x="1143000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3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plan: a 12-month runway to the first Tet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234440" y="2286000"/>
            <a:ext cx="822960" cy="822960"/>
          </a:xfrm>
          <a:prstGeom prst="ellipse">
            <a:avLst/>
          </a:prstGeom>
          <a:solidFill>
            <a:srgbClr val="1F4D3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234440" y="22860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2057400" y="2697480"/>
            <a:ext cx="1417320" cy="0"/>
          </a:xfrm>
          <a:prstGeom prst="line">
            <a:avLst/>
          </a:prstGeom>
          <a:noFill/>
          <a:ln w="25400">
            <a:solidFill>
              <a:srgbClr val="C8D2C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329184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4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– Sep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657600"/>
            <a:ext cx="2057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C63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Audit, IP filings, dossier assembly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474720" y="2286000"/>
            <a:ext cx="822960" cy="822960"/>
          </a:xfrm>
          <a:prstGeom prst="ellipse">
            <a:avLst/>
          </a:prstGeom>
          <a:solidFill>
            <a:srgbClr val="1F4D3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74720" y="22860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4297680" y="2697480"/>
            <a:ext cx="1417320" cy="0"/>
          </a:xfrm>
          <a:prstGeom prst="line">
            <a:avLst/>
          </a:prstGeom>
          <a:noFill/>
          <a:ln w="25400">
            <a:solidFill>
              <a:srgbClr val="C8D2C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880360" y="329184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4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 – Jan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2880360" y="3657600"/>
            <a:ext cx="2057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C63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registrations; build Mall stores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715000" y="2286000"/>
            <a:ext cx="822960" cy="822960"/>
          </a:xfrm>
          <a:prstGeom prst="ellipse">
            <a:avLst/>
          </a:prstGeom>
          <a:solidFill>
            <a:srgbClr val="1F4D3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715000" y="22860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6537960" y="2697480"/>
            <a:ext cx="1417320" cy="0"/>
          </a:xfrm>
          <a:prstGeom prst="line">
            <a:avLst/>
          </a:prstGeom>
          <a:noFill/>
          <a:ln w="25400">
            <a:solidFill>
              <a:srgbClr val="C8D2C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120640" y="329184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4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 – Apr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120640" y="3657600"/>
            <a:ext cx="2057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C63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 launch online after Tet; gather velocity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7955280" y="2286000"/>
            <a:ext cx="822960" cy="822960"/>
          </a:xfrm>
          <a:prstGeom prst="ellipse">
            <a:avLst/>
          </a:prstGeom>
          <a:solidFill>
            <a:srgbClr val="1F4D3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955280" y="22860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8778240" y="2697480"/>
            <a:ext cx="1417320" cy="0"/>
          </a:xfrm>
          <a:prstGeom prst="line">
            <a:avLst/>
          </a:prstGeom>
          <a:noFill/>
          <a:ln w="25400">
            <a:solidFill>
              <a:srgbClr val="C8D2C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360920" y="329184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4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 – Aug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360920" y="3657600"/>
            <a:ext cx="2057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C63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Chau &amp; Pharmacity listing push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10195560" y="2286000"/>
            <a:ext cx="822960" cy="822960"/>
          </a:xfrm>
          <a:prstGeom prst="ellipse">
            <a:avLst/>
          </a:prstGeom>
          <a:solidFill>
            <a:srgbClr val="C56A45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10195560" y="22860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200" dirty="0"/>
          </a:p>
        </p:txBody>
      </p:sp>
      <p:sp>
        <p:nvSpPr>
          <p:cNvPr id="25" name="Text 23"/>
          <p:cNvSpPr txBox="1"/>
          <p:nvPr/>
        </p:nvSpPr>
        <p:spPr>
          <a:xfrm>
            <a:off x="9601200" y="329184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4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 – Nov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9601200" y="3657600"/>
            <a:ext cx="2057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C63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Tet sell-in — gift SKU, chain displays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51206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1A1C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Tet 2027 falls on 6 February — the first full Tet play is Tet 2028, which sets this calendar.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644652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C63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Organika × Vietnam  ·  distribution partnership  ·  working briefing, not a public document</a:t>
            </a:r>
            <a:endParaRPr lang="en-US" sz="850" dirty="0"/>
          </a:p>
        </p:txBody>
      </p:sp>
      <p:sp>
        <p:nvSpPr>
          <p:cNvPr id="29" name="Text 27"/>
          <p:cNvSpPr txBox="1"/>
          <p:nvPr/>
        </p:nvSpPr>
        <p:spPr>
          <a:xfrm>
            <a:off x="1143000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3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F4D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828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spc="20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next step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377440"/>
            <a:ext cx="10332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short call to share the range, the price ladder, and the dossier we already hold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749808" y="51206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FE0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Louis To  ·  Senior Sales Manager, Emerging Channels  ·  Organika Health Products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749808" y="60350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FC0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document makes no claim that any product treats or prevents disease.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2026-10-24T00:07:00Z</dcterms:created>
  <dcterms:modified xsi:type="dcterms:W3CDTF">2026-10-24T00:07:00Z</dcterms:modified>
</cp:coreProperties>
</file>