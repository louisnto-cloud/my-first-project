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charts/chart1.xml" ContentType="application/vnd.openxmlformats-officedocument.drawingml.chart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5C635C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5C635C"/>
                </a:solidFill>
                <a:latin typeface="+mn-lt"/>
              </a:rPr>
              <a:t>Online supplement sales, Jan to May 2025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Share of online supplement sales</c:v>
                </c:pt>
              </c:strCache>
            </c:strRef>
          </c:tx>
          <c:spPr>
            <a:solidFill>
              <a:srgbClr val="1F4D3A"/>
            </a:solidFill>
            <a:effectLst/>
          </c:spPr>
          <c:invertIfNegative val="0"/>
          <c:dLbls>
            <c:numFmt formatCode="0%" sourceLinked="0"/>
            <c:txPr>
              <a:bodyPr/>
              <a:lstStyle/>
              <a:p>
                <a:pPr>
                  <a:defRPr b="0" i="0" strike="noStrike" sz="1200" u="none">
                    <a:solidFill>
                      <a:srgbClr val="1A1C1A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dPt>
            <c:idx val="0"/>
            <c:invertIfNegative val="0"/>
            <c:bubble3D val="0"/>
            <c:spPr>
              <a:solidFill>
                <a:srgbClr val="1F4D3A"/>
              </a:solidFill>
              <a:effectLst/>
            </c:spPr>
          </c:dPt>
          <c:dPt>
            <c:idx val="1"/>
            <c:invertIfNegative val="0"/>
            <c:bubble3D val="0"/>
            <c:spPr>
              <a:solidFill>
                <a:srgbClr val="D9CFC7"/>
              </a:solidFill>
              <a:effectLst/>
            </c:spPr>
          </c:dPt>
          <c:cat>
            <c:multiLvlStrRef>
              <c:f>Sheet1!$A$2:$A$3</c:f>
              <c:multiLvlStrCache>
                <c:ptCount val="2"/>
                <c:lvl>
                  <c:pt idx="0">
                    <c:v>Official stores</c:v>
                  </c:pt>
                  <c:pt idx="1">
                    <c:v>Unverified sellers</c:v>
                  </c:pt>
                </c:lvl>
              </c:multiLvlStrCache>
            </c:multiLvlStrRef>
          </c:cat>
          <c:val>
            <c:numRef>
              <c:f>Sheet1!$B$2:$B$3</c:f>
              <c:numCache>
                <c:formatCode>General</c:formatCode>
                <c:ptCount val="2"/>
                <c:pt idx="0">
                  <c:v>0.262</c:v>
                </c:pt>
                <c:pt idx="1">
                  <c:v>0.738</c:v>
                </c:pt>
              </c:numCache>
            </c:numRef>
          </c:val>
        </c:ser>
        <c:dLbls>
          <c:numFmt formatCode="0%" sourceLinked="0"/>
          <c:txPr>
            <a:bodyPr/>
            <a:lstStyle/>
            <a:p>
              <a:pPr>
                <a:defRPr b="0" i="0" strike="noStrike" sz="1200" u="none">
                  <a:solidFill>
                    <a:srgbClr val="1A1C1A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100" b="0" i="0" u="none" strike="noStrike">
                <a:solidFill>
                  <a:srgbClr val="1A1C1A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0.9"/>
        </c:scaling>
        <c:delete val="1"/>
        <c:axPos val="l"/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Opening: thank them for the time; Organika has sold in Vietnam for years and is planning the next phase properly.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F4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210312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3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 ×  VIETNAM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651760"/>
            <a:ext cx="10515600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distribution partnership for premium Canadian natural health</a:t>
            </a:r>
            <a:endParaRPr lang="en-US" sz="40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4114800"/>
            <a:ext cx="10515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08A5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Collagen · Magnesium · Greens · Probiotics · Fibre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585216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FE0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To · Senior Sales Manager, Emerging Channels · Organika Health Products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market worth building, carefully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373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13232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~US$0.9B</a:t>
            </a:r>
            <a:endParaRPr lang="en-US" sz="3400" dirty="0"/>
          </a:p>
        </p:txBody>
      </p:sp>
      <p:sp>
        <p:nvSpPr>
          <p:cNvPr id="5" name="Text 3"/>
          <p:cNvSpPr txBox="1"/>
          <p:nvPr/>
        </p:nvSpPr>
        <p:spPr>
          <a:xfrm>
            <a:off x="713232" y="2788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supplement market, 2024 (analyst consensus)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3364992" y="17373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3529584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~11%/yr</a:t>
            </a:r>
            <a:endParaRPr lang="en-US" sz="3400" dirty="0"/>
          </a:p>
        </p:txBody>
      </p:sp>
      <p:sp>
        <p:nvSpPr>
          <p:cNvPr id="8" name="Text 6"/>
          <p:cNvSpPr txBox="1"/>
          <p:nvPr/>
        </p:nvSpPr>
        <p:spPr>
          <a:xfrm>
            <a:off x="3529584" y="2788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growth, to ~US$1.7B by 2030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6181344" y="17373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345936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#1</a:t>
            </a:r>
            <a:endParaRPr lang="en-US" sz="3400" dirty="0"/>
          </a:p>
        </p:txBody>
      </p:sp>
      <p:sp>
        <p:nvSpPr>
          <p:cNvPr id="11" name="Text 9"/>
          <p:cNvSpPr txBox="1"/>
          <p:nvPr/>
        </p:nvSpPr>
        <p:spPr>
          <a:xfrm>
            <a:off x="6345936" y="2788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fastest growing supplement market in Southeast Asia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8997696" y="1737360"/>
            <a:ext cx="2606040" cy="2011680"/>
          </a:xfrm>
          <a:prstGeom prst="roundRect">
            <a:avLst>
              <a:gd name="adj" fmla="val 363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9162288" y="1965960"/>
            <a:ext cx="23317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 in 4</a:t>
            </a:r>
            <a:endParaRPr lang="en-US" sz="3400" dirty="0"/>
          </a:p>
        </p:txBody>
      </p:sp>
      <p:sp>
        <p:nvSpPr>
          <p:cNvPr id="14" name="Text 12"/>
          <p:cNvSpPr txBox="1"/>
          <p:nvPr/>
        </p:nvSpPr>
        <p:spPr>
          <a:xfrm>
            <a:off x="9162288" y="2788920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supplement sales now through official stores (Jan to May 2025)</a:t>
            </a:r>
            <a:endParaRPr lang="en-US" sz="12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4114800"/>
            <a:ext cx="110642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2025 counterfeit crackdown pushed shoppers toward provably genuine imports. That shift is the opening.</a:t>
            </a:r>
            <a:endParaRPr lang="en-US" sz="1400" dirty="0"/>
          </a:p>
        </p:txBody>
      </p:sp>
      <p:sp>
        <p:nvSpPr>
          <p:cNvPr id="16" name="Text 14"/>
          <p:cNvSpPr txBox="1"/>
          <p:nvPr/>
        </p:nvSpPr>
        <p:spPr>
          <a:xfrm>
            <a:off x="548640" y="5943600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Grand View Research and Ken Research (2025); Euromonitor via NutraIngredients (2026); Metric.vn platform data via Đại Biểu Nhân Dân (2025).</a:t>
            </a:r>
            <a:endParaRPr lang="en-US" sz="9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8" name="Text 16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the shelves are crowded, and where they are open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645920"/>
            <a:ext cx="5486400" cy="4206240"/>
          </a:xfrm>
          <a:prstGeom prst="roundRect">
            <a:avLst>
              <a:gd name="adj" fmla="val 1739"/>
            </a:avLst>
          </a:prstGeom>
          <a:solidFill>
            <a:srgbClr val="FBEDE7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828800"/>
            <a:ext cx="50292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CROWDED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331720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Mid fish oil and multivitamins (Blackmores, Doppelherz)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868680" y="3081528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Red ginseng gifting (KGC and many others)</a:t>
            </a:r>
            <a:endParaRPr lang="en-US" sz="1300" dirty="0"/>
          </a:p>
        </p:txBody>
      </p:sp>
      <p:sp>
        <p:nvSpPr>
          <p:cNvPr id="7" name="Text 5"/>
          <p:cNvSpPr txBox="1"/>
          <p:nvPr/>
        </p:nvSpPr>
        <p:spPr>
          <a:xfrm>
            <a:off x="868680" y="3831336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Kids DHA and calcium (crowded, and trust damaged in 2025)</a:t>
            </a:r>
            <a:endParaRPr lang="en-US" sz="1300" dirty="0"/>
          </a:p>
        </p:txBody>
      </p:sp>
      <p:sp>
        <p:nvSpPr>
          <p:cNvPr id="8" name="Text 6"/>
          <p:cNvSpPr txBox="1"/>
          <p:nvPr/>
        </p:nvSpPr>
        <p:spPr>
          <a:xfrm>
            <a:off x="868680" y="4581144"/>
            <a:ext cx="493776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Beauty collagen at mass prices (many Korean and local brands)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217920" y="1645920"/>
            <a:ext cx="5394960" cy="4206240"/>
          </a:xfrm>
          <a:prstGeom prst="roundRect">
            <a:avLst>
              <a:gd name="adj" fmla="val 1739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6446520" y="182880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6537960" y="2331720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Chelated sleep and stress magnesium: no official brand owns it</a:t>
            </a:r>
            <a:endParaRPr lang="en-US" sz="1300" dirty="0"/>
          </a:p>
        </p:txBody>
      </p:sp>
      <p:sp>
        <p:nvSpPr>
          <p:cNvPr id="12" name="Text 10"/>
          <p:cNvSpPr txBox="1"/>
          <p:nvPr/>
        </p:nvSpPr>
        <p:spPr>
          <a:xfrm>
            <a:off x="6537960" y="3081528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greens powder: only a Japanese aojiru niche</a:t>
            </a:r>
            <a:endParaRPr lang="en-US" sz="1300" dirty="0"/>
          </a:p>
        </p:txBody>
      </p:sp>
      <p:sp>
        <p:nvSpPr>
          <p:cNvPr id="13" name="Text 11"/>
          <p:cNvSpPr txBox="1"/>
          <p:nvPr/>
        </p:nvSpPr>
        <p:spPr>
          <a:xfrm>
            <a:off x="6537960" y="3831336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 Canadian collagen below Japanese prices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6537960" y="4581144"/>
            <a:ext cx="4846320" cy="7040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30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Clean label Canadian: no Canadian brand at scale yet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Lead where Organika is open and priced to win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819656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Collagen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4297680" y="1819656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300" dirty="0"/>
          </a:p>
        </p:txBody>
      </p:sp>
      <p:sp>
        <p:nvSpPr>
          <p:cNvPr id="6" name="Text 4"/>
          <p:cNvSpPr txBox="1"/>
          <p:nvPr/>
        </p:nvSpPr>
        <p:spPr>
          <a:xfrm>
            <a:off x="5760720" y="1819656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Fits the premium band today; Canadian quality story and a Tet gift format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624328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2660904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Magnesium bisglycinate</a:t>
            </a:r>
            <a:endParaRPr lang="en-US" sz="1500" dirty="0"/>
          </a:p>
        </p:txBody>
      </p:sp>
      <p:sp>
        <p:nvSpPr>
          <p:cNvPr id="9" name="Text 7"/>
          <p:cNvSpPr txBox="1"/>
          <p:nvPr/>
        </p:nvSpPr>
        <p:spPr>
          <a:xfrm>
            <a:off x="4297680" y="2660904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</a:t>
            </a:r>
            <a:endParaRPr lang="en-US" sz="1300" dirty="0"/>
          </a:p>
        </p:txBody>
      </p:sp>
      <p:sp>
        <p:nvSpPr>
          <p:cNvPr id="10" name="Text 8"/>
          <p:cNvSpPr txBox="1"/>
          <p:nvPr/>
        </p:nvSpPr>
        <p:spPr>
          <a:xfrm>
            <a:off x="5760720" y="2660904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shelf; launched in a Vietnam pack sized to its price band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3465576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3502152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Greens</a:t>
            </a:r>
            <a:endParaRPr lang="en-US" sz="1500" dirty="0"/>
          </a:p>
        </p:txBody>
      </p:sp>
      <p:sp>
        <p:nvSpPr>
          <p:cNvPr id="13" name="Text 11"/>
          <p:cNvSpPr txBox="1"/>
          <p:nvPr/>
        </p:nvSpPr>
        <p:spPr>
          <a:xfrm>
            <a:off x="4297680" y="3502152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NEXT</a:t>
            </a:r>
            <a:endParaRPr lang="en-US" sz="1300" dirty="0"/>
          </a:p>
        </p:txBody>
      </p:sp>
      <p:sp>
        <p:nvSpPr>
          <p:cNvPr id="14" name="Text 12"/>
          <p:cNvSpPr txBox="1"/>
          <p:nvPr/>
        </p:nvSpPr>
        <p:spPr>
          <a:xfrm>
            <a:off x="5760720" y="3502152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shelf; follows in a smaller format so it lands inside the band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548640" y="4306824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4343400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Probiotics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4297680" y="4343400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</a:t>
            </a:r>
            <a:endParaRPr lang="en-US" sz="1300" dirty="0"/>
          </a:p>
        </p:txBody>
      </p:sp>
      <p:sp>
        <p:nvSpPr>
          <p:cNvPr id="18" name="Text 16"/>
          <p:cNvSpPr txBox="1"/>
          <p:nvPr/>
        </p:nvSpPr>
        <p:spPr>
          <a:xfrm>
            <a:off x="5760720" y="4343400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Joins once we have a clear strain or format advantage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548640" y="5148072"/>
            <a:ext cx="11064240" cy="731520"/>
          </a:xfrm>
          <a:prstGeom prst="roundRect">
            <a:avLst>
              <a:gd name="adj" fmla="val 10000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20" name="Text 18"/>
          <p:cNvSpPr txBox="1"/>
          <p:nvPr/>
        </p:nvSpPr>
        <p:spPr>
          <a:xfrm>
            <a:off x="777240" y="5184648"/>
            <a:ext cx="3474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Fibre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4297680" y="5184648"/>
            <a:ext cx="1371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LATER</a:t>
            </a:r>
            <a:endParaRPr lang="en-US" sz="1300" dirty="0"/>
          </a:p>
        </p:txBody>
      </p:sp>
      <p:sp>
        <p:nvSpPr>
          <p:cNvPr id="22" name="Text 20"/>
          <p:cNvSpPr txBox="1"/>
          <p:nvPr/>
        </p:nvSpPr>
        <p:spPr>
          <a:xfrm>
            <a:off x="5760720" y="5184648"/>
            <a:ext cx="576072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Rounds out the range once the core is selling</a:t>
            </a:r>
            <a:endParaRPr lang="en-US" sz="1300" dirty="0"/>
          </a:p>
        </p:txBody>
      </p:sp>
      <p:sp>
        <p:nvSpPr>
          <p:cNvPr id="23" name="Text 21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24" name="Text 22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Why now: shoppers are moving to genuine</a:t>
            </a:r>
            <a:endParaRPr lang="en-US" sz="30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548640" y="1737360"/>
          <a:ext cx="5760720" cy="402336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Shape 1"/>
          <p:cNvSpPr/>
          <p:nvPr/>
        </p:nvSpPr>
        <p:spPr>
          <a:xfrm>
            <a:off x="6583680" y="1737360"/>
            <a:ext cx="5029200" cy="4023360"/>
          </a:xfrm>
          <a:prstGeom prst="roundRect">
            <a:avLst>
              <a:gd name="adj" fmla="val 1818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5" name="Text 2"/>
          <p:cNvSpPr txBox="1"/>
          <p:nvPr/>
        </p:nvSpPr>
        <p:spPr>
          <a:xfrm>
            <a:off x="6812280" y="1920240"/>
            <a:ext cx="4572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means for us</a:t>
            </a:r>
            <a:endParaRPr lang="en-US" sz="1400" dirty="0"/>
          </a:p>
        </p:txBody>
      </p:sp>
      <p:sp>
        <p:nvSpPr>
          <p:cNvPr id="6" name="Text 3"/>
          <p:cNvSpPr txBox="1"/>
          <p:nvPr/>
        </p:nvSpPr>
        <p:spPr>
          <a:xfrm>
            <a:off x="6903720" y="237744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67% of online shoppers rank guaranteed genuine goods as the top improvement they want, ahead of discounts (41%)</a:t>
            </a:r>
            <a:endParaRPr lang="en-US" sz="1250" dirty="0"/>
          </a:p>
        </p:txBody>
      </p:sp>
      <p:sp>
        <p:nvSpPr>
          <p:cNvPr id="7" name="Text 4"/>
          <p:cNvSpPr txBox="1"/>
          <p:nvPr/>
        </p:nvSpPr>
        <p:spPr>
          <a:xfrm>
            <a:off x="6903720" y="342900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Online supplement sales fell 22% in USD in 2025 as fakes were purged, while official stores gained share</a:t>
            </a:r>
            <a:endParaRPr lang="en-US" sz="1250" dirty="0"/>
          </a:p>
        </p:txBody>
      </p:sp>
      <p:sp>
        <p:nvSpPr>
          <p:cNvPr id="8" name="Text 5"/>
          <p:cNvSpPr txBox="1"/>
          <p:nvPr/>
        </p:nvSpPr>
        <p:spPr>
          <a:xfrm>
            <a:off x="6903720" y="4480560"/>
            <a:ext cx="44805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buSzPct val="100000"/>
              <a:buChar char="•"/>
            </a:pPr>
            <a:r>
              <a:rPr lang="en-US" sz="1250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Influencers were jailed for false health product claims in November 2025; the former food safety chief got 20 years in January 2026</a:t>
            </a:r>
            <a:endParaRPr lang="en-US" sz="125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5943600"/>
            <a:ext cx="110642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Sources: Metric.vn via Đại Biểu Nhân Dân (2025); VnExpress (2026); court reporting (VnExpress, Thanh Niên).</a:t>
            </a:r>
            <a:endParaRPr lang="en-US" sz="900" dirty="0"/>
          </a:p>
        </p:txBody>
      </p:sp>
      <p:sp>
        <p:nvSpPr>
          <p:cNvPr id="10" name="Text 7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1" name="Text 8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bring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7830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Registration support</a:t>
            </a:r>
            <a:endParaRPr lang="en-US" sz="1500" dirty="0"/>
          </a:p>
        </p:txBody>
      </p:sp>
      <p:sp>
        <p:nvSpPr>
          <p:cNvPr id="5" name="Text 3"/>
          <p:cNvSpPr txBox="1"/>
          <p:nvPr/>
        </p:nvSpPr>
        <p:spPr>
          <a:xfrm>
            <a:off x="777240" y="231343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GMP certified Canadian manufacturing, free sale certificates and lab testing to build each dossier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172200" y="178308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7" name="Text 5"/>
          <p:cNvSpPr txBox="1"/>
          <p:nvPr/>
        </p:nvSpPr>
        <p:spPr>
          <a:xfrm>
            <a:off x="6400800" y="192024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Marketing investment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6400800" y="231343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launch budget for pharmacist education, compliant KOC content and official store vouchers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20040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Grey market control</a:t>
            </a:r>
            <a:endParaRPr lang="en-US" sz="1500" dirty="0"/>
          </a:p>
        </p:txBody>
      </p:sp>
      <p:sp>
        <p:nvSpPr>
          <p:cNvPr id="11" name="Text 9"/>
          <p:cNvSpPr txBox="1"/>
          <p:nvPr/>
        </p:nvSpPr>
        <p:spPr>
          <a:xfrm>
            <a:off x="777240" y="373075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Vietnam packs and a price ladder so stock bought abroad does not undercut your shelf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6172200" y="320040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3" name="Text 11"/>
          <p:cNvSpPr txBox="1"/>
          <p:nvPr/>
        </p:nvSpPr>
        <p:spPr>
          <a:xfrm>
            <a:off x="6400800" y="333756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Promo headroom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6400800" y="373075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 prices set with room for Tet and double day campaigns</a:t>
            </a:r>
            <a:endParaRPr lang="en-US" sz="1200" dirty="0"/>
          </a:p>
        </p:txBody>
      </p:sp>
      <p:sp>
        <p:nvSpPr>
          <p:cNvPr id="15" name="Shape 13"/>
          <p:cNvSpPr/>
          <p:nvPr/>
        </p:nvSpPr>
        <p:spPr>
          <a:xfrm>
            <a:off x="54864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6" name="Text 14"/>
          <p:cNvSpPr txBox="1"/>
          <p:nvPr/>
        </p:nvSpPr>
        <p:spPr>
          <a:xfrm>
            <a:off x="77724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Health Canada quality</a:t>
            </a:r>
            <a:endParaRPr lang="en-US" sz="1500" dirty="0"/>
          </a:p>
        </p:txBody>
      </p:sp>
      <p:sp>
        <p:nvSpPr>
          <p:cNvPr id="17" name="Text 15"/>
          <p:cNvSpPr txBox="1"/>
          <p:nvPr/>
        </p:nvSpPr>
        <p:spPr>
          <a:xfrm>
            <a:off x="777240" y="514807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Canada ranked first in the world on food quality and safety (Global Food Security Index, 2022)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6172200" y="4617720"/>
            <a:ext cx="5394960" cy="1280160"/>
          </a:xfrm>
          <a:prstGeom prst="roundRect">
            <a:avLst>
              <a:gd name="adj" fmla="val 571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9" name="Text 17"/>
          <p:cNvSpPr txBox="1"/>
          <p:nvPr/>
        </p:nvSpPr>
        <p:spPr>
          <a:xfrm>
            <a:off x="6400800" y="4754880"/>
            <a:ext cx="49377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clear registration plan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6400800" y="5148072"/>
            <a:ext cx="493776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Who files, who holds, and how a handover works, agreed up front in writing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22" name="Text 20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What we ask of a partner</a:t>
            </a:r>
            <a:endParaRPr lang="en-US" sz="3000" dirty="0"/>
          </a:p>
        </p:txBody>
      </p:sp>
      <p:sp>
        <p:nvSpPr>
          <p:cNvPr id="3" name="Shape 1"/>
          <p:cNvSpPr/>
          <p:nvPr/>
        </p:nvSpPr>
        <p:spPr>
          <a:xfrm>
            <a:off x="548640" y="18288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4" name="Text 2"/>
          <p:cNvSpPr txBox="1"/>
          <p:nvPr/>
        </p:nvSpPr>
        <p:spPr>
          <a:xfrm>
            <a:off x="777240" y="192024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56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1828800" y="20299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Placement</a:t>
            </a:r>
            <a:endParaRPr lang="en-US" sz="1700" dirty="0"/>
          </a:p>
        </p:txBody>
      </p:sp>
      <p:sp>
        <p:nvSpPr>
          <p:cNvPr id="6" name="Text 4"/>
          <p:cNvSpPr txBox="1"/>
          <p:nvPr/>
        </p:nvSpPr>
        <p:spPr>
          <a:xfrm>
            <a:off x="1828800" y="24871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Pharmacy chains, Long Chau first, plus official stores on Shopee and TikTok Shop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32004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8" name="Text 6"/>
          <p:cNvSpPr txBox="1"/>
          <p:nvPr/>
        </p:nvSpPr>
        <p:spPr>
          <a:xfrm>
            <a:off x="777240" y="329184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56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4000" dirty="0"/>
          </a:p>
        </p:txBody>
      </p:sp>
      <p:sp>
        <p:nvSpPr>
          <p:cNvPr id="9" name="Text 7"/>
          <p:cNvSpPr txBox="1"/>
          <p:nvPr/>
        </p:nvSpPr>
        <p:spPr>
          <a:xfrm>
            <a:off x="1828800" y="34015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Exclusivity, earned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1828800" y="38587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National exclusivity tied to agreed volume milestones, so both sides have a reason to invest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548640" y="4572000"/>
            <a:ext cx="11064240" cy="1234440"/>
          </a:xfrm>
          <a:prstGeom prst="roundRect">
            <a:avLst>
              <a:gd name="adj" fmla="val 5926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2" name="Text 10"/>
          <p:cNvSpPr txBox="1"/>
          <p:nvPr/>
        </p:nvSpPr>
        <p:spPr>
          <a:xfrm>
            <a:off x="777240" y="4663440"/>
            <a:ext cx="9144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4000" b="1" dirty="0">
                <a:solidFill>
                  <a:srgbClr val="C56A45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4000" dirty="0"/>
          </a:p>
        </p:txBody>
      </p:sp>
      <p:sp>
        <p:nvSpPr>
          <p:cNvPr id="13" name="Text 11"/>
          <p:cNvSpPr txBox="1"/>
          <p:nvPr/>
        </p:nvSpPr>
        <p:spPr>
          <a:xfrm>
            <a:off x="1828800" y="4773168"/>
            <a:ext cx="5486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accountable owner</a:t>
            </a:r>
            <a:endParaRPr lang="en-US" sz="1700" dirty="0"/>
          </a:p>
        </p:txBody>
      </p:sp>
      <p:sp>
        <p:nvSpPr>
          <p:cNvPr id="14" name="Text 12"/>
          <p:cNvSpPr txBox="1"/>
          <p:nvPr/>
        </p:nvSpPr>
        <p:spPr>
          <a:xfrm>
            <a:off x="1828800" y="5230368"/>
            <a:ext cx="94183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named brand owner for Organika and a quarterly business review together</a:t>
            </a:r>
            <a:endParaRPr lang="en-US" sz="1300" dirty="0"/>
          </a:p>
        </p:txBody>
      </p:sp>
      <p:sp>
        <p:nvSpPr>
          <p:cNvPr id="15" name="Text 13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16" name="Text 14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Priced to win the shelf, with room to promote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shelf prices; final pricing is set together with our partner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8640" y="1691640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E8F0EA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5" name="Text 3"/>
          <p:cNvSpPr txBox="1"/>
          <p:nvPr/>
        </p:nvSpPr>
        <p:spPr>
          <a:xfrm>
            <a:off x="777240" y="1856232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Enhanced Collagen 250g</a:t>
            </a:r>
            <a:endParaRPr 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4389120" y="1856232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VND 650–700k</a:t>
            </a:r>
            <a:endParaRPr lang="en-US" sz="2600" dirty="0"/>
          </a:p>
        </p:txBody>
      </p:sp>
      <p:sp>
        <p:nvSpPr>
          <p:cNvPr id="7" name="Text 5"/>
          <p:cNvSpPr txBox="1"/>
          <p:nvPr/>
        </p:nvSpPr>
        <p:spPr>
          <a:xfrm>
            <a:off x="7132320" y="181965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Japanese and Korean premium collagen sells at VND 650–850k</a:t>
            </a:r>
            <a:endParaRPr 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7132320" y="245973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Entry point of the premium band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548640" y="3154680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0" name="Text 8"/>
          <p:cNvSpPr txBox="1"/>
          <p:nvPr/>
        </p:nvSpPr>
        <p:spPr>
          <a:xfrm>
            <a:off x="777240" y="3319272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Magnesium bisglycinate, Vietnam pack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4389120" y="3319272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VND 300–400k</a:t>
            </a:r>
            <a:endParaRPr lang="en-US" sz="2600" dirty="0"/>
          </a:p>
        </p:txBody>
      </p:sp>
      <p:sp>
        <p:nvSpPr>
          <p:cNvPr id="12" name="Text 10"/>
          <p:cNvSpPr txBox="1"/>
          <p:nvPr/>
        </p:nvSpPr>
        <p:spPr>
          <a:xfrm>
            <a:off x="7132320" y="328269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Doppelherz magnesium from VND 220k; Blackmores Bio Magnesium near VND 500k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7132320" y="392277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Premium, inside the band</a:t>
            </a:r>
            <a:endParaRPr lang="en-US" sz="1200" dirty="0"/>
          </a:p>
        </p:txBody>
      </p:sp>
      <p:sp>
        <p:nvSpPr>
          <p:cNvPr id="14" name="Shape 12"/>
          <p:cNvSpPr/>
          <p:nvPr/>
        </p:nvSpPr>
        <p:spPr>
          <a:xfrm>
            <a:off x="548640" y="4617720"/>
            <a:ext cx="11064240" cy="1298448"/>
          </a:xfrm>
          <a:prstGeom prst="roundRect">
            <a:avLst>
              <a:gd name="adj" fmla="val 5634"/>
            </a:avLst>
          </a:prstGeom>
          <a:solidFill>
            <a:srgbClr val="EEF0EC"/>
          </a:solidFill>
          <a:ln/>
          <a:effectLst>
            <a:outerShdw sx="100000" sy="100000" kx="0" ky="0" algn="bl" rotWithShape="0" blurRad="63500" dist="25400" dir="5400000">
              <a:srgbClr val="BBBBBB">
                <a:alpha val="35000"/>
              </a:srgbClr>
            </a:outerShdw>
          </a:effectLst>
        </p:spPr>
      </p:sp>
      <p:sp>
        <p:nvSpPr>
          <p:cNvPr id="15" name="Text 13"/>
          <p:cNvSpPr txBox="1"/>
          <p:nvPr/>
        </p:nvSpPr>
        <p:spPr>
          <a:xfrm>
            <a:off x="777240" y="4782312"/>
            <a:ext cx="35661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Greens, smaller format</a:t>
            </a:r>
            <a:endParaRPr lang="en-US" sz="1600" dirty="0"/>
          </a:p>
        </p:txBody>
      </p:sp>
      <p:sp>
        <p:nvSpPr>
          <p:cNvPr id="16" name="Text 14"/>
          <p:cNvSpPr txBox="1"/>
          <p:nvPr/>
        </p:nvSpPr>
        <p:spPr>
          <a:xfrm>
            <a:off x="4389120" y="4782312"/>
            <a:ext cx="265176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VND 450–550k</a:t>
            </a:r>
            <a:endParaRPr lang="en-US" sz="2600" dirty="0"/>
          </a:p>
        </p:txBody>
      </p:sp>
      <p:sp>
        <p:nvSpPr>
          <p:cNvPr id="17" name="Text 15"/>
          <p:cNvSpPr txBox="1"/>
          <p:nvPr/>
        </p:nvSpPr>
        <p:spPr>
          <a:xfrm>
            <a:off x="7132320" y="4745736"/>
            <a:ext cx="42976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Orihiro aojiru greens VND 350–470k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7132320" y="5385816"/>
            <a:ext cx="42976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Premium, inside the band</a:t>
            </a:r>
            <a:endParaRPr lang="en-US" sz="1200" dirty="0"/>
          </a:p>
        </p:txBody>
      </p:sp>
      <p:sp>
        <p:nvSpPr>
          <p:cNvPr id="19" name="Text 17"/>
          <p:cNvSpPr txBox="1"/>
          <p:nvPr/>
        </p:nvSpPr>
        <p:spPr>
          <a:xfrm>
            <a:off x="548640" y="6080760"/>
            <a:ext cx="110642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Competitor prices: Vietnamese retail and pharmacy listings, 2025 to 2026.</a:t>
            </a:r>
            <a:endParaRPr lang="en-US" sz="900" dirty="0"/>
          </a:p>
        </p:txBody>
      </p:sp>
      <p:sp>
        <p:nvSpPr>
          <p:cNvPr id="20" name="Text 18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21" name="Text 19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365760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1F4D3A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The plan: twelve months to the first Tet</a:t>
            </a:r>
            <a:endParaRPr 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66928" y="1024128"/>
            <a:ext cx="11064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C56A4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Target timeline; registration approvals set the pace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1234440" y="2286000"/>
            <a:ext cx="822960" cy="822960"/>
          </a:xfrm>
          <a:prstGeom prst="ellipse">
            <a:avLst/>
          </a:prstGeom>
          <a:solidFill>
            <a:srgbClr val="1F4D3A"/>
          </a:solidFill>
          <a:ln/>
        </p:spPr>
      </p:sp>
      <p:sp>
        <p:nvSpPr>
          <p:cNvPr id="5" name="Text 3"/>
          <p:cNvSpPr txBox="1"/>
          <p:nvPr/>
        </p:nvSpPr>
        <p:spPr>
          <a:xfrm>
            <a:off x="123444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</a:t>
            </a:r>
            <a:endParaRPr lang="en-US" sz="2200" dirty="0"/>
          </a:p>
        </p:txBody>
      </p:sp>
      <p:sp>
        <p:nvSpPr>
          <p:cNvPr id="6" name="Shape 4"/>
          <p:cNvSpPr/>
          <p:nvPr/>
        </p:nvSpPr>
        <p:spPr>
          <a:xfrm>
            <a:off x="2057400" y="2697480"/>
            <a:ext cx="1417320" cy="0"/>
          </a:xfrm>
          <a:prstGeom prst="line">
            <a:avLst/>
          </a:prstGeom>
          <a:noFill/>
          <a:ln w="25400">
            <a:solidFill>
              <a:srgbClr val="C8D2CB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94360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Nov to Dec 2026</a:t>
            </a:r>
            <a:endParaRPr lang="en-US" sz="1250" dirty="0"/>
          </a:p>
        </p:txBody>
      </p:sp>
      <p:sp>
        <p:nvSpPr>
          <p:cNvPr id="8" name="Text 6"/>
          <p:cNvSpPr txBox="1"/>
          <p:nvPr/>
        </p:nvSpPr>
        <p:spPr>
          <a:xfrm>
            <a:off x="640080" y="37033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Agree the partner plan, file trademarks, start dossiers</a:t>
            </a:r>
            <a:endParaRPr lang="en-US" sz="1150" dirty="0"/>
          </a:p>
        </p:txBody>
      </p:sp>
      <p:sp>
        <p:nvSpPr>
          <p:cNvPr id="9" name="Shape 7"/>
          <p:cNvSpPr/>
          <p:nvPr/>
        </p:nvSpPr>
        <p:spPr>
          <a:xfrm>
            <a:off x="3474720" y="2286000"/>
            <a:ext cx="822960" cy="822960"/>
          </a:xfrm>
          <a:prstGeom prst="ellipse">
            <a:avLst/>
          </a:prstGeom>
          <a:solidFill>
            <a:srgbClr val="1F4D3A"/>
          </a:solidFill>
          <a:ln/>
        </p:spPr>
      </p:sp>
      <p:sp>
        <p:nvSpPr>
          <p:cNvPr id="10" name="Text 8"/>
          <p:cNvSpPr txBox="1"/>
          <p:nvPr/>
        </p:nvSpPr>
        <p:spPr>
          <a:xfrm>
            <a:off x="347472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2</a:t>
            </a:r>
            <a:endParaRPr lang="en-US" sz="2200" dirty="0"/>
          </a:p>
        </p:txBody>
      </p:sp>
      <p:sp>
        <p:nvSpPr>
          <p:cNvPr id="11" name="Shape 9"/>
          <p:cNvSpPr/>
          <p:nvPr/>
        </p:nvSpPr>
        <p:spPr>
          <a:xfrm>
            <a:off x="4297680" y="2697480"/>
            <a:ext cx="1417320" cy="0"/>
          </a:xfrm>
          <a:prstGeom prst="line">
            <a:avLst/>
          </a:prstGeom>
          <a:noFill/>
          <a:ln w="25400">
            <a:solidFill>
              <a:srgbClr val="C8D2CB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2834640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 2026 to Mar 2027</a:t>
            </a:r>
            <a:endParaRPr lang="en-US" sz="1250" dirty="0"/>
          </a:p>
        </p:txBody>
      </p:sp>
      <p:sp>
        <p:nvSpPr>
          <p:cNvPr id="13" name="Text 11"/>
          <p:cNvSpPr txBox="1"/>
          <p:nvPr/>
        </p:nvSpPr>
        <p:spPr>
          <a:xfrm>
            <a:off x="2880360" y="37033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File registrations; confirm the rules under the new food safety law</a:t>
            </a:r>
            <a:endParaRPr lang="en-US" sz="1150" dirty="0"/>
          </a:p>
        </p:txBody>
      </p:sp>
      <p:sp>
        <p:nvSpPr>
          <p:cNvPr id="14" name="Shape 12"/>
          <p:cNvSpPr/>
          <p:nvPr/>
        </p:nvSpPr>
        <p:spPr>
          <a:xfrm>
            <a:off x="5715000" y="2286000"/>
            <a:ext cx="822960" cy="822960"/>
          </a:xfrm>
          <a:prstGeom prst="ellipse">
            <a:avLst/>
          </a:prstGeom>
          <a:solidFill>
            <a:srgbClr val="1F4D3A"/>
          </a:solidFill>
          <a:ln/>
        </p:spPr>
      </p:sp>
      <p:sp>
        <p:nvSpPr>
          <p:cNvPr id="15" name="Text 13"/>
          <p:cNvSpPr txBox="1"/>
          <p:nvPr/>
        </p:nvSpPr>
        <p:spPr>
          <a:xfrm>
            <a:off x="571500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3</a:t>
            </a:r>
            <a:endParaRPr lang="en-US" sz="2200" dirty="0"/>
          </a:p>
        </p:txBody>
      </p:sp>
      <p:sp>
        <p:nvSpPr>
          <p:cNvPr id="16" name="Shape 14"/>
          <p:cNvSpPr/>
          <p:nvPr/>
        </p:nvSpPr>
        <p:spPr>
          <a:xfrm>
            <a:off x="6537960" y="2697480"/>
            <a:ext cx="1417320" cy="0"/>
          </a:xfrm>
          <a:prstGeom prst="line">
            <a:avLst/>
          </a:prstGeom>
          <a:noFill/>
          <a:ln w="25400">
            <a:solidFill>
              <a:srgbClr val="C8D2C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074920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Apr to Jun 2027</a:t>
            </a:r>
            <a:endParaRPr lang="en-US" sz="1250" dirty="0"/>
          </a:p>
        </p:txBody>
      </p:sp>
      <p:sp>
        <p:nvSpPr>
          <p:cNvPr id="18" name="Text 16"/>
          <p:cNvSpPr txBox="1"/>
          <p:nvPr/>
        </p:nvSpPr>
        <p:spPr>
          <a:xfrm>
            <a:off x="5120640" y="37033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stores live as registrations clear; online launch; first sales data</a:t>
            </a:r>
            <a:endParaRPr lang="en-US" sz="1150" dirty="0"/>
          </a:p>
        </p:txBody>
      </p:sp>
      <p:sp>
        <p:nvSpPr>
          <p:cNvPr id="19" name="Shape 17"/>
          <p:cNvSpPr/>
          <p:nvPr/>
        </p:nvSpPr>
        <p:spPr>
          <a:xfrm>
            <a:off x="7955280" y="2286000"/>
            <a:ext cx="822960" cy="822960"/>
          </a:xfrm>
          <a:prstGeom prst="ellipse">
            <a:avLst/>
          </a:prstGeom>
          <a:solidFill>
            <a:srgbClr val="1F4D3A"/>
          </a:solidFill>
          <a:ln/>
        </p:spPr>
      </p:sp>
      <p:sp>
        <p:nvSpPr>
          <p:cNvPr id="20" name="Text 18"/>
          <p:cNvSpPr txBox="1"/>
          <p:nvPr/>
        </p:nvSpPr>
        <p:spPr>
          <a:xfrm>
            <a:off x="795528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4</a:t>
            </a:r>
            <a:endParaRPr lang="en-US" sz="2200" dirty="0"/>
          </a:p>
        </p:txBody>
      </p:sp>
      <p:sp>
        <p:nvSpPr>
          <p:cNvPr id="21" name="Shape 19"/>
          <p:cNvSpPr/>
          <p:nvPr/>
        </p:nvSpPr>
        <p:spPr>
          <a:xfrm>
            <a:off x="8778240" y="2697480"/>
            <a:ext cx="1417320" cy="0"/>
          </a:xfrm>
          <a:prstGeom prst="line">
            <a:avLst/>
          </a:prstGeom>
          <a:noFill/>
          <a:ln w="25400">
            <a:solidFill>
              <a:srgbClr val="C8D2CB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315200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Jun to Aug 2027</a:t>
            </a:r>
            <a:endParaRPr lang="en-US" sz="1250" dirty="0"/>
          </a:p>
        </p:txBody>
      </p:sp>
      <p:sp>
        <p:nvSpPr>
          <p:cNvPr id="23" name="Text 21"/>
          <p:cNvSpPr txBox="1"/>
          <p:nvPr/>
        </p:nvSpPr>
        <p:spPr>
          <a:xfrm>
            <a:off x="7360920" y="37033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Long Chau and Pharmacity listing push</a:t>
            </a:r>
            <a:endParaRPr lang="en-US" sz="1150" dirty="0"/>
          </a:p>
        </p:txBody>
      </p:sp>
      <p:sp>
        <p:nvSpPr>
          <p:cNvPr id="24" name="Shape 22"/>
          <p:cNvSpPr/>
          <p:nvPr/>
        </p:nvSpPr>
        <p:spPr>
          <a:xfrm>
            <a:off x="10195560" y="2286000"/>
            <a:ext cx="822960" cy="822960"/>
          </a:xfrm>
          <a:prstGeom prst="ellipse">
            <a:avLst/>
          </a:prstGeom>
          <a:solidFill>
            <a:srgbClr val="C56A45"/>
          </a:solidFill>
          <a:ln/>
        </p:spPr>
      </p:sp>
      <p:sp>
        <p:nvSpPr>
          <p:cNvPr id="25" name="Text 23"/>
          <p:cNvSpPr txBox="1"/>
          <p:nvPr/>
        </p:nvSpPr>
        <p:spPr>
          <a:xfrm>
            <a:off x="10195560" y="2286000"/>
            <a:ext cx="82296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</a:t>
            </a:r>
            <a:endParaRPr lang="en-US" sz="2200" dirty="0"/>
          </a:p>
        </p:txBody>
      </p:sp>
      <p:sp>
        <p:nvSpPr>
          <p:cNvPr id="26" name="Text 24"/>
          <p:cNvSpPr txBox="1"/>
          <p:nvPr/>
        </p:nvSpPr>
        <p:spPr>
          <a:xfrm>
            <a:off x="9555480" y="3291840"/>
            <a:ext cx="2148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1F4D3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Sep to Nov 2027</a:t>
            </a:r>
            <a:endParaRPr lang="en-US" sz="1250" dirty="0"/>
          </a:p>
        </p:txBody>
      </p:sp>
      <p:sp>
        <p:nvSpPr>
          <p:cNvPr id="27" name="Text 25"/>
          <p:cNvSpPr txBox="1"/>
          <p:nvPr/>
        </p:nvSpPr>
        <p:spPr>
          <a:xfrm>
            <a:off x="9601200" y="3703320"/>
            <a:ext cx="205740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1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First Tet sell in: gift sets and chain displays</a:t>
            </a:r>
            <a:endParaRPr lang="en-US" sz="1150" dirty="0"/>
          </a:p>
        </p:txBody>
      </p:sp>
      <p:sp>
        <p:nvSpPr>
          <p:cNvPr id="28" name="Text 26"/>
          <p:cNvSpPr txBox="1"/>
          <p:nvPr/>
        </p:nvSpPr>
        <p:spPr>
          <a:xfrm>
            <a:off x="548640" y="5212080"/>
            <a:ext cx="1106424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i="1" dirty="0">
                <a:solidFill>
                  <a:srgbClr val="1A1C1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Tet 2028 falls on 26 January, so the gift sell in runs September to November 2027.</a:t>
            </a:r>
            <a:endParaRPr lang="en-US" sz="1300" dirty="0"/>
          </a:p>
        </p:txBody>
      </p:sp>
      <p:sp>
        <p:nvSpPr>
          <p:cNvPr id="29" name="Text 27"/>
          <p:cNvSpPr txBox="1"/>
          <p:nvPr/>
        </p:nvSpPr>
        <p:spPr>
          <a:xfrm>
            <a:off x="548640" y="6446520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85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Organika × Vietnam  ·  distribution partnership  ·  working briefing, not a public document</a:t>
            </a:r>
            <a:endParaRPr lang="en-US" sz="850" dirty="0"/>
          </a:p>
        </p:txBody>
      </p:sp>
      <p:sp>
        <p:nvSpPr>
          <p:cNvPr id="30" name="Text 28"/>
          <p:cNvSpPr txBox="1"/>
          <p:nvPr/>
        </p:nvSpPr>
        <p:spPr>
          <a:xfrm>
            <a:off x="11430000" y="6446520"/>
            <a:ext cx="3657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5C635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1F4D3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731520" y="1828800"/>
            <a:ext cx="10698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spc="200" kern="0" dirty="0">
                <a:solidFill>
                  <a:srgbClr val="97BC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next step</a:t>
            </a:r>
            <a:endParaRPr lang="en-US" sz="1600" dirty="0"/>
          </a:p>
        </p:txBody>
      </p:sp>
      <p:sp>
        <p:nvSpPr>
          <p:cNvPr id="3" name="Text 1"/>
          <p:cNvSpPr txBox="1"/>
          <p:nvPr/>
        </p:nvSpPr>
        <p:spPr>
          <a:xfrm>
            <a:off x="731520" y="2377440"/>
            <a:ext cx="10332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Agree the range, the pack plan and the registration plan, then set the first milestones together</a:t>
            </a:r>
            <a:endParaRPr lang="en-US" sz="3000" dirty="0"/>
          </a:p>
        </p:txBody>
      </p:sp>
      <p:sp>
        <p:nvSpPr>
          <p:cNvPr id="4" name="Text 2"/>
          <p:cNvSpPr txBox="1"/>
          <p:nvPr/>
        </p:nvSpPr>
        <p:spPr>
          <a:xfrm>
            <a:off x="749808" y="5120640"/>
            <a:ext cx="10515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CFE0D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Louis To  ·  Senior Sales Manager, Emerging Channels  ·  Organika Health Products</a:t>
            </a:r>
            <a:endParaRPr lang="en-US" sz="13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6035040"/>
            <a:ext cx="10515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9FC0A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document makes no claim that any product treats or prevents disease.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Organika x Vietnam: distribution partnership</dc:title>
  <dc:subject>PptxGenJS Presentation</dc:subject>
  <dc:creator>Louis To</dc:creator>
  <cp:lastModifiedBy>Louis To</cp:lastModifiedBy>
  <cp:revision>1</cp:revision>
  <dcterms:created xsi:type="dcterms:W3CDTF">2026-10-30T06:14:44Z</dcterms:created>
  <dcterms:modified xsi:type="dcterms:W3CDTF">2026-10-30T06:14:45Z</dcterms:modified>
</cp:coreProperties>
</file>