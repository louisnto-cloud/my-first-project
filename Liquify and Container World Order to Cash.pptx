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E5C76"/>
                </a:solidFill>
                <a:latin typeface="Calibri"/>
              </a:rPr>
              <a:t>LIQUIFY AND CONTAINER WORLD: ORDER TO CASH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24E"/>
                </a:solidFill>
                <a:latin typeface="Calibri"/>
              </a:rPr>
              <a:t>What Liquify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25880"/>
            <a:ext cx="1463040" cy="41148"/>
          </a:xfrm>
          <a:prstGeom prst="rect">
            <a:avLst/>
          </a:prstGeom>
          <a:solidFill>
            <a:srgbClr val="3E5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Liquify and Container World: Order to Cash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800"/>
              </a:spcAft>
            </a:pPr>
            <a:r>
              <a:rPr sz="1900">
                <a:solidFill>
                  <a:srgbClr val="3E5C76"/>
                </a:solidFill>
                <a:latin typeface="Calibri"/>
              </a:rPr>
              <a:t>▪  </a:t>
            </a:r>
            <a:r>
              <a:rPr sz="1900">
                <a:solidFill>
                  <a:srgbClr val="222833"/>
                </a:solidFill>
                <a:latin typeface="Calibri"/>
              </a:rPr>
              <a:t>Liquify is a private B2B marketplace for the BC beverage alcohol trade, founded 2014 and based in Victoria.</a:t>
            </a:r>
          </a:p>
          <a:p>
            <a:pPr marL="274320" indent="-274320">
              <a:spcAft>
                <a:spcPts val="1800"/>
              </a:spcAft>
            </a:pPr>
            <a:r>
              <a:rPr sz="1900">
                <a:solidFill>
                  <a:srgbClr val="3E5C76"/>
                </a:solidFill>
                <a:latin typeface="Calibri"/>
              </a:rPr>
              <a:t>▪  </a:t>
            </a:r>
            <a:r>
              <a:rPr sz="1900">
                <a:solidFill>
                  <a:srgbClr val="222833"/>
                </a:solidFill>
                <a:latin typeface="Calibri"/>
              </a:rPr>
              <a:t>It connects agents and suppliers with over 3,000 BC licensees across retail and on premise.</a:t>
            </a:r>
          </a:p>
          <a:p>
            <a:pPr marL="274320" indent="-274320">
              <a:spcAft>
                <a:spcPts val="1800"/>
              </a:spcAft>
            </a:pPr>
            <a:r>
              <a:rPr sz="1900">
                <a:solidFill>
                  <a:srgbClr val="3E5C76"/>
                </a:solidFill>
                <a:latin typeface="Calibri"/>
              </a:rPr>
              <a:t>▪  </a:t>
            </a:r>
            <a:r>
              <a:rPr sz="1900">
                <a:solidFill>
                  <a:srgbClr val="222833"/>
                </a:solidFill>
                <a:latin typeface="Calibri"/>
              </a:rPr>
              <a:t>Buyers browse a catalogue of 27,000+ LDB and Direct Delivery products and order on platform instead of by phone or email.</a:t>
            </a:r>
          </a:p>
          <a:p>
            <a:pPr marL="274320" indent="-274320">
              <a:spcAft>
                <a:spcPts val="1800"/>
              </a:spcAft>
            </a:pPr>
            <a:r>
              <a:rPr sz="1900">
                <a:solidFill>
                  <a:srgbClr val="3E5C76"/>
                </a:solidFill>
                <a:latin typeface="Calibri"/>
              </a:rPr>
              <a:t>▪  </a:t>
            </a:r>
            <a:r>
              <a:rPr sz="1900">
                <a:solidFill>
                  <a:srgbClr val="222833"/>
                </a:solidFill>
                <a:latin typeface="Calibri"/>
              </a:rPr>
              <a:t>For us, it converts a rep's pitch into a confirmed, legally binding order on the spot.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24E"/>
                </a:solidFill>
                <a:latin typeface="Calibri"/>
              </a:rPr>
              <a:t>How It Integrates With Container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463040" cy="41148"/>
          </a:xfrm>
          <a:prstGeom prst="rect">
            <a:avLst/>
          </a:prstGeom>
          <a:solidFill>
            <a:srgbClr val="3E5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Liquify and Container World: Order to Cash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800"/>
              </a:spcAft>
            </a:pPr>
            <a:r>
              <a:rPr sz="1900">
                <a:solidFill>
                  <a:srgbClr val="3E5C76"/>
                </a:solidFill>
                <a:latin typeface="Calibri"/>
              </a:rPr>
              <a:t>▪  </a:t>
            </a:r>
            <a:r>
              <a:rPr sz="1900">
                <a:solidFill>
                  <a:srgbClr val="222833"/>
                </a:solidFill>
                <a:latin typeface="Calibri"/>
              </a:rPr>
              <a:t>Our Direct Delivery inventory is warehoused at Container World in Richmond.</a:t>
            </a:r>
          </a:p>
          <a:p>
            <a:pPr marL="274320" indent="-274320">
              <a:spcAft>
                <a:spcPts val="1800"/>
              </a:spcAft>
            </a:pPr>
            <a:r>
              <a:rPr sz="1900">
                <a:solidFill>
                  <a:srgbClr val="3E5C76"/>
                </a:solidFill>
                <a:latin typeface="Calibri"/>
              </a:rPr>
              <a:t>▪  </a:t>
            </a:r>
            <a:r>
              <a:rPr sz="1900">
                <a:solidFill>
                  <a:srgbClr val="222833"/>
                </a:solidFill>
                <a:latin typeface="Calibri"/>
              </a:rPr>
              <a:t>When a licensee places an order on Liquify and we confirm it on the platform, Liquify pushes the order directly into Container World's system.</a:t>
            </a:r>
          </a:p>
          <a:p>
            <a:pPr marL="274320" indent="-274320">
              <a:spcAft>
                <a:spcPts val="1800"/>
              </a:spcAft>
            </a:pPr>
            <a:r>
              <a:rPr sz="1900">
                <a:solidFill>
                  <a:srgbClr val="3E5C76"/>
                </a:solidFill>
                <a:latin typeface="Calibri"/>
              </a:rPr>
              <a:t>▪  </a:t>
            </a:r>
            <a:r>
              <a:rPr sz="1900">
                <a:solidFill>
                  <a:srgbClr val="222833"/>
                </a:solidFill>
                <a:latin typeface="Calibri"/>
              </a:rPr>
              <a:t>Container World picks the order and delivers province wide through its trucking arm, Commercial Logistics Inc.</a:t>
            </a:r>
          </a:p>
          <a:p>
            <a:pPr marL="274320" indent="-274320">
              <a:spcAft>
                <a:spcPts val="1800"/>
              </a:spcAft>
            </a:pPr>
            <a:r>
              <a:rPr sz="1900">
                <a:solidFill>
                  <a:srgbClr val="3E5C76"/>
                </a:solidFill>
                <a:latin typeface="Calibri"/>
              </a:rPr>
              <a:t>▪  </a:t>
            </a:r>
            <a:r>
              <a:rPr sz="1900">
                <a:solidFill>
                  <a:srgbClr val="222833"/>
                </a:solidFill>
                <a:latin typeface="Calibri"/>
              </a:rPr>
              <a:t>Liquify tracks order status from dispatch through fulfillment, so confirmation, fulfillment, and delivery status all live in one place.</a:t>
            </a:r>
          </a:p>
          <a:p>
            <a:pPr marL="274320" indent="-274320">
              <a:spcAft>
                <a:spcPts val="1800"/>
              </a:spcAft>
            </a:pPr>
            <a:r>
              <a:rPr sz="1900">
                <a:solidFill>
                  <a:srgbClr val="3E5C76"/>
                </a:solidFill>
                <a:latin typeface="Calibri"/>
              </a:rPr>
              <a:t>▪  </a:t>
            </a:r>
            <a:r>
              <a:rPr sz="1900">
                <a:solidFill>
                  <a:srgbClr val="222833"/>
                </a:solidFill>
                <a:latin typeface="Calibri"/>
              </a:rPr>
              <a:t>No rekeying. No order desk emails.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24E"/>
                </a:solidFill>
                <a:latin typeface="Calibri"/>
              </a:rPr>
              <a:t>Order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463040" cy="41148"/>
          </a:xfrm>
          <a:prstGeom prst="rect">
            <a:avLst/>
          </a:prstGeom>
          <a:solidFill>
            <a:srgbClr val="3E5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Liquify and Container World: Order to Cash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462707" cy="14173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3E5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E5C76"/>
                </a:solidFill>
                <a:latin typeface="Calibri"/>
              </a:rPr>
              <a:t>1. </a:t>
            </a:r>
            <a:r>
              <a:rPr sz="1300">
                <a:solidFill>
                  <a:srgbClr val="222833"/>
                </a:solidFill>
                <a:latin typeface="Calibri"/>
              </a:rPr>
              <a:t>Licensee browses catalogue and builds Order Sheet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57067" y="2391156"/>
            <a:ext cx="384048" cy="292608"/>
          </a:xfrm>
          <a:prstGeom prst="rightArrow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41115" y="1828800"/>
            <a:ext cx="2462707" cy="14173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3E5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E5C76"/>
                </a:solidFill>
                <a:latin typeface="Calibri"/>
              </a:rPr>
              <a:t>2. </a:t>
            </a:r>
            <a:r>
              <a:rPr sz="1300">
                <a:solidFill>
                  <a:srgbClr val="222833"/>
                </a:solidFill>
                <a:latin typeface="Calibri"/>
              </a:rPr>
              <a:t>Licensee submits order on Liquify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03822" y="2391156"/>
            <a:ext cx="384048" cy="292608"/>
          </a:xfrm>
          <a:prstGeom prst="rightArrow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87870" y="1828800"/>
            <a:ext cx="2462707" cy="14173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3E5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E5C76"/>
                </a:solidFill>
                <a:latin typeface="Calibri"/>
              </a:rPr>
              <a:t>3. </a:t>
            </a:r>
            <a:r>
              <a:rPr sz="1300">
                <a:solidFill>
                  <a:srgbClr val="222833"/>
                </a:solidFill>
                <a:latin typeface="Calibri"/>
              </a:rPr>
              <a:t>We review and confirm on platform. Order becomes a binding agreement.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50577" y="2391156"/>
            <a:ext cx="384048" cy="292608"/>
          </a:xfrm>
          <a:prstGeom prst="rightArrow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34625" y="1828800"/>
            <a:ext cx="2462707" cy="14173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3E5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E5C76"/>
                </a:solidFill>
                <a:latin typeface="Calibri"/>
              </a:rPr>
              <a:t>4. </a:t>
            </a:r>
            <a:r>
              <a:rPr sz="1300">
                <a:solidFill>
                  <a:srgbClr val="222833"/>
                </a:solidFill>
                <a:latin typeface="Calibri"/>
              </a:rPr>
              <a:t>Liquify pushes confirmed order to Container World, Richmond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160520"/>
            <a:ext cx="3411626" cy="14173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3E5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E5C76"/>
                </a:solidFill>
                <a:latin typeface="Calibri"/>
              </a:rPr>
              <a:t>5. </a:t>
            </a:r>
            <a:r>
              <a:rPr sz="1300">
                <a:solidFill>
                  <a:srgbClr val="222833"/>
                </a:solidFill>
                <a:latin typeface="Calibri"/>
              </a:rPr>
              <a:t>Container World picks and stages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05986" y="4722876"/>
            <a:ext cx="384048" cy="292608"/>
          </a:xfrm>
          <a:prstGeom prst="rightArrow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90034" y="4160520"/>
            <a:ext cx="3411626" cy="14173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3E5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E5C76"/>
                </a:solidFill>
                <a:latin typeface="Calibri"/>
              </a:rPr>
              <a:t>6. </a:t>
            </a:r>
            <a:r>
              <a:rPr sz="1300">
                <a:solidFill>
                  <a:srgbClr val="222833"/>
                </a:solidFill>
                <a:latin typeface="Calibri"/>
              </a:rPr>
              <a:t>Commercial Logistics Inc. delivers to licensee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01660" y="4722876"/>
            <a:ext cx="384048" cy="292608"/>
          </a:xfrm>
          <a:prstGeom prst="rightArrow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85708" y="4160520"/>
            <a:ext cx="3411626" cy="14173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3E5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E5C76"/>
                </a:solidFill>
                <a:latin typeface="Calibri"/>
              </a:rPr>
              <a:t>7. </a:t>
            </a:r>
            <a:r>
              <a:rPr sz="1300">
                <a:solidFill>
                  <a:srgbClr val="222833"/>
                </a:solidFill>
                <a:latin typeface="Calibri"/>
              </a:rPr>
              <a:t>Delivery status updates in Liquify</a:t>
            </a:r>
          </a:p>
        </p:txBody>
      </p:sp>
      <p:cxnSp>
        <p:nvCxnSpPr>
          <p:cNvPr id="19" name="Connector 18"/>
          <p:cNvCxnSpPr>
            <a:stCxn id="13" idx="3"/>
            <a:endCxn id="14" idx="0"/>
          </p:cNvCxnSpPr>
          <p:nvPr/>
        </p:nvCxnSpPr>
        <p:spPr>
          <a:xfrm flipH="1">
            <a:off x="2300173" y="2537460"/>
            <a:ext cx="9297159" cy="1623060"/>
          </a:xfrm>
          <a:prstGeom prst="bentConnector3">
            <a:avLst/>
          </a:prstGeom>
          <a:ln w="28575">
            <a:solidFill>
              <a:srgbClr val="3E5C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24E"/>
                </a:solidFill>
                <a:latin typeface="Calibri"/>
              </a:rPr>
              <a:t>Payment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463040" cy="41148"/>
          </a:xfrm>
          <a:prstGeom prst="rect">
            <a:avLst/>
          </a:prstGeom>
          <a:solidFill>
            <a:srgbClr val="3E5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Liquify and Container World: Order to Cash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3411626" cy="14173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3E5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E5C76"/>
                </a:solidFill>
                <a:latin typeface="Calibri"/>
              </a:rPr>
              <a:t>1. </a:t>
            </a:r>
            <a:r>
              <a:rPr sz="1300">
                <a:solidFill>
                  <a:srgbClr val="222833"/>
                </a:solidFill>
                <a:latin typeface="Calibri"/>
              </a:rPr>
              <a:t>Order confirmed and fulfilled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05986" y="2391156"/>
            <a:ext cx="384048" cy="292608"/>
          </a:xfrm>
          <a:prstGeom prst="rightArrow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90034" y="1828800"/>
            <a:ext cx="3411626" cy="14173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3E5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E5C76"/>
                </a:solidFill>
                <a:latin typeface="Calibri"/>
              </a:rPr>
              <a:t>2. </a:t>
            </a:r>
            <a:r>
              <a:rPr sz="1300">
                <a:solidFill>
                  <a:srgbClr val="222833"/>
                </a:solidFill>
                <a:latin typeface="Calibri"/>
              </a:rPr>
              <a:t>Liquify auto generates the Doc 60 invoice with the licensee's details and delivers it to us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01660" y="2391156"/>
            <a:ext cx="384048" cy="292608"/>
          </a:xfrm>
          <a:prstGeom prst="rightArrow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5708" y="1828800"/>
            <a:ext cx="3411626" cy="14173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3E5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E5C76"/>
                </a:solidFill>
                <a:latin typeface="Calibri"/>
              </a:rPr>
              <a:t>3. </a:t>
            </a:r>
            <a:r>
              <a:rPr sz="1300">
                <a:solidFill>
                  <a:srgbClr val="222833"/>
                </a:solidFill>
                <a:latin typeface="Calibri"/>
              </a:rPr>
              <a:t>Licensee's credit card on file is charged under their stored card authorization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160520"/>
            <a:ext cx="3411626" cy="14173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3E5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E5C76"/>
                </a:solidFill>
                <a:latin typeface="Calibri"/>
              </a:rPr>
              <a:t>4. </a:t>
            </a:r>
            <a:r>
              <a:rPr sz="1300">
                <a:solidFill>
                  <a:srgbClr val="222833"/>
                </a:solidFill>
                <a:latin typeface="Calibri"/>
              </a:rPr>
              <a:t>Funds settle through a PCI DSS compliant third party processor into our own merchant account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05986" y="4722876"/>
            <a:ext cx="384048" cy="292608"/>
          </a:xfrm>
          <a:prstGeom prst="rightArrow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0034" y="4160520"/>
            <a:ext cx="3411626" cy="14173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3E5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E5C76"/>
                </a:solidFill>
                <a:latin typeface="Calibri"/>
              </a:rPr>
              <a:t>5. </a:t>
            </a:r>
            <a:r>
              <a:rPr sz="1300">
                <a:solidFill>
                  <a:srgbClr val="222833"/>
                </a:solidFill>
                <a:latin typeface="Calibri"/>
              </a:rPr>
              <a:t>We remit LDB markup, excise, GST, and PST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01660" y="4722876"/>
            <a:ext cx="384048" cy="292608"/>
          </a:xfrm>
          <a:prstGeom prst="rightArrow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5708" y="4160520"/>
            <a:ext cx="3411626" cy="14173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3E5C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3E5C76"/>
                </a:solidFill>
                <a:latin typeface="Calibri"/>
              </a:rPr>
              <a:t>6. </a:t>
            </a:r>
            <a:r>
              <a:rPr sz="1300">
                <a:solidFill>
                  <a:srgbClr val="222833"/>
                </a:solidFill>
                <a:latin typeface="Calibri"/>
              </a:rPr>
              <a:t>Doc 60 and transaction records stored in Liquify for reconciliation</a:t>
            </a:r>
          </a:p>
        </p:txBody>
      </p:sp>
      <p:cxnSp>
        <p:nvCxnSpPr>
          <p:cNvPr id="17" name="Connector 16"/>
          <p:cNvCxnSpPr>
            <a:stCxn id="11" idx="3"/>
            <a:endCxn id="12" idx="0"/>
          </p:cNvCxnSpPr>
          <p:nvPr/>
        </p:nvCxnSpPr>
        <p:spPr>
          <a:xfrm flipH="1">
            <a:off x="2300173" y="2537460"/>
            <a:ext cx="9297161" cy="1623060"/>
          </a:xfrm>
          <a:prstGeom prst="bentConnector3">
            <a:avLst/>
          </a:prstGeom>
          <a:ln w="28575">
            <a:solidFill>
              <a:srgbClr val="3E5C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24E"/>
                </a:solidFill>
                <a:latin typeface="Calibri"/>
              </a:rPr>
              <a:t>What Finance Needs to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987552"/>
            <a:ext cx="1463040" cy="41148"/>
          </a:xfrm>
          <a:prstGeom prst="rect">
            <a:avLst/>
          </a:prstGeom>
          <a:solidFill>
            <a:srgbClr val="3E5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Liquify and Container World: Order to Cash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800"/>
              </a:spcAft>
            </a:pPr>
            <a:r>
              <a:rPr sz="1900">
                <a:solidFill>
                  <a:srgbClr val="3E5C76"/>
                </a:solidFill>
                <a:latin typeface="Calibri"/>
              </a:rPr>
              <a:t>▪  </a:t>
            </a:r>
            <a:r>
              <a:rPr sz="1900">
                <a:solidFill>
                  <a:srgbClr val="222833"/>
                </a:solidFill>
                <a:latin typeface="Calibri"/>
              </a:rPr>
              <a:t>Liquify is a venue, not a payment company. It never takes ownership of product or custody of funds.</a:t>
            </a:r>
          </a:p>
          <a:p>
            <a:pPr marL="274320" indent="-274320">
              <a:spcAft>
                <a:spcPts val="1800"/>
              </a:spcAft>
            </a:pPr>
            <a:r>
              <a:rPr sz="1900">
                <a:solidFill>
                  <a:srgbClr val="3E5C76"/>
                </a:solidFill>
                <a:latin typeface="Calibri"/>
              </a:rPr>
              <a:t>▪  </a:t>
            </a:r>
            <a:r>
              <a:rPr sz="1900">
                <a:solidFill>
                  <a:srgbClr val="222833"/>
                </a:solidFill>
                <a:latin typeface="Calibri"/>
              </a:rPr>
              <a:t>We hold the merchant account, so card processing fees and any chargeback exposure are ours.</a:t>
            </a:r>
          </a:p>
          <a:p>
            <a:pPr marL="274320" indent="-274320">
              <a:spcAft>
                <a:spcPts val="1800"/>
              </a:spcAft>
            </a:pPr>
            <a:r>
              <a:rPr sz="1900">
                <a:solidFill>
                  <a:srgbClr val="3E5C76"/>
                </a:solidFill>
                <a:latin typeface="Calibri"/>
              </a:rPr>
              <a:t>▪  </a:t>
            </a:r>
            <a:r>
              <a:rPr sz="1900">
                <a:solidFill>
                  <a:srgbClr val="222833"/>
                </a:solidFill>
                <a:latin typeface="Calibri"/>
              </a:rPr>
              <a:t>Liquify bills us a transaction fee when each Doc 60 is issued, charged to our card on file, plus an annual platform fee.</a:t>
            </a:r>
          </a:p>
          <a:p>
            <a:pPr marL="274320" indent="-274320">
              <a:spcAft>
                <a:spcPts val="1800"/>
              </a:spcAft>
            </a:pPr>
            <a:r>
              <a:rPr sz="1900">
                <a:solidFill>
                  <a:srgbClr val="3E5C76"/>
                </a:solidFill>
                <a:latin typeface="Calibri"/>
              </a:rPr>
              <a:t>▪  </a:t>
            </a:r>
            <a:r>
              <a:rPr sz="1900">
                <a:solidFill>
                  <a:srgbClr val="222833"/>
                </a:solidFill>
                <a:latin typeface="Calibri"/>
              </a:rPr>
              <a:t>Tax remittance stays with us.</a:t>
            </a:r>
          </a:p>
          <a:p>
            <a:pPr marL="274320" indent="-274320">
              <a:spcAft>
                <a:spcPts val="1800"/>
              </a:spcAft>
            </a:pPr>
            <a:r>
              <a:rPr sz="1900">
                <a:solidFill>
                  <a:srgbClr val="3E5C76"/>
                </a:solidFill>
                <a:latin typeface="Calibri"/>
              </a:rPr>
              <a:t>▪  </a:t>
            </a:r>
            <a:r>
              <a:rPr sz="1900">
                <a:solidFill>
                  <a:srgbClr val="222833"/>
                </a:solidFill>
                <a:latin typeface="Calibri"/>
              </a:rPr>
              <a:t>Net effect: faster confirmed orders, automated invoicing, and payment collected by card authorization instead of chasing receivables on terms.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